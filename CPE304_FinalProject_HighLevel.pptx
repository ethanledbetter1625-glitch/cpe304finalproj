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46"/>
  </p:normalViewPr>
  <p:slideViewPr>
    <p:cSldViewPr snapToGrid="0">
      <p:cViewPr varScale="1">
        <p:scale>
          <a:sx n="103" d="100"/>
          <a:sy n="103"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ham A Fales" userId="41236f64-ed5d-42f7-87d0-60ae7aaa0a91" providerId="ADAL" clId="{EB83F68F-6946-4902-A588-53942F886372}"/>
    <pc:docChg chg="custSel addSld modSld">
      <pc:chgData name="Graham A Fales" userId="41236f64-ed5d-42f7-87d0-60ae7aaa0a91" providerId="ADAL" clId="{EB83F68F-6946-4902-A588-53942F886372}" dt="2026-10-28T21:27:11.627" v="759" actId="20577"/>
      <pc:docMkLst>
        <pc:docMk/>
      </pc:docMkLst>
      <pc:sldChg chg="modSp mod">
        <pc:chgData name="Graham A Fales" userId="41236f64-ed5d-42f7-87d0-60ae7aaa0a91" providerId="ADAL" clId="{EB83F68F-6946-4902-A588-53942F886372}" dt="2026-10-28T20:52:01.078" v="0" actId="255"/>
        <pc:sldMkLst>
          <pc:docMk/>
          <pc:sldMk cId="667557738" sldId="258"/>
        </pc:sldMkLst>
        <pc:spChg chg="mod">
          <ac:chgData name="Graham A Fales" userId="41236f64-ed5d-42f7-87d0-60ae7aaa0a91" providerId="ADAL" clId="{EB83F68F-6946-4902-A588-53942F886372}" dt="2026-10-28T20:52:01.078" v="0" actId="255"/>
          <ac:spMkLst>
            <pc:docMk/>
            <pc:sldMk cId="667557738" sldId="258"/>
            <ac:spMk id="4" creationId="{6DCDAAF1-7E60-7C82-8125-24B47107D6B1}"/>
          </ac:spMkLst>
        </pc:spChg>
      </pc:sldChg>
      <pc:sldChg chg="modSp new mod">
        <pc:chgData name="Graham A Fales" userId="41236f64-ed5d-42f7-87d0-60ae7aaa0a91" providerId="ADAL" clId="{EB83F68F-6946-4902-A588-53942F886372}" dt="2026-10-28T21:27:11.627" v="759" actId="20577"/>
        <pc:sldMkLst>
          <pc:docMk/>
          <pc:sldMk cId="3884978215" sldId="259"/>
        </pc:sldMkLst>
        <pc:spChg chg="mod">
          <ac:chgData name="Graham A Fales" userId="41236f64-ed5d-42f7-87d0-60ae7aaa0a91" providerId="ADAL" clId="{EB83F68F-6946-4902-A588-53942F886372}" dt="2026-10-28T20:52:30.688" v="20" actId="1076"/>
          <ac:spMkLst>
            <pc:docMk/>
            <pc:sldMk cId="3884978215" sldId="259"/>
            <ac:spMk id="2" creationId="{DB2B430C-FC7B-487B-D18C-A182467FCA20}"/>
          </ac:spMkLst>
        </pc:spChg>
        <pc:spChg chg="mod">
          <ac:chgData name="Graham A Fales" userId="41236f64-ed5d-42f7-87d0-60ae7aaa0a91" providerId="ADAL" clId="{EB83F68F-6946-4902-A588-53942F886372}" dt="2026-10-28T21:27:11.627" v="759" actId="20577"/>
          <ac:spMkLst>
            <pc:docMk/>
            <pc:sldMk cId="3884978215" sldId="259"/>
            <ac:spMk id="3" creationId="{B95993BF-FD74-C4E7-0A7C-C485C83E42F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8916-C8BE-76BA-6BC2-98E35E0073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8D986B-A7A1-C878-50A4-5F45E29EB4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630F53-80D4-6A11-19F6-A9198343F429}"/>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456D0111-A3E7-6591-38D5-61135AB67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2CBD7-BB13-315F-67D1-5BC192CE6AB8}"/>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2559375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04D2E-1873-818A-CEA7-371D51EB08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4C3131-274C-09A7-FD27-4684EE942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2E5E3E-8B77-9D60-7942-CC269242F9B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0CA99356-663A-AD6E-441A-4CB41285E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1C5CC-1289-49ED-AA00-A2E9D0F07D8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67282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8A637-0B63-6BE5-45CC-16F049C347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47668-2DD1-D622-6FF0-6D7EC0B427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3F5A2A-A70C-A852-D3C3-74C82A60B757}"/>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EB515D65-75C8-B2FA-4826-9827868B0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FA68F-D70A-4052-04F8-B83E7B432F22}"/>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239690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7150-4327-2ED6-728C-F1676F325B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462A61-BAFC-C756-80C3-CAE5D15EDA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DC387-CC2F-3EA3-08A6-8B5B56EC3F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245930-1A56-8CF1-7987-6DDB428651A4}"/>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9E795C9B-2D9E-5F4A-3348-5608AB234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D52879-986D-48B0-FB93-79F3CE7943D6}"/>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53402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9E51-BC07-DE26-E4EB-9E963AE5A3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524619-9419-D3D2-430D-A7B97D1445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D1F3B-22BB-795A-82C1-0AF2538E56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3DFB8F-777F-B531-0C5C-FD459AD41F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1E3AE-A78D-49F9-68A2-43FDBFCD26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6D0CE6-93EC-16B1-111E-88BE6671D7D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8" name="Footer Placeholder 7">
            <a:extLst>
              <a:ext uri="{FF2B5EF4-FFF2-40B4-BE49-F238E27FC236}">
                <a16:creationId xmlns:a16="http://schemas.microsoft.com/office/drawing/2014/main" id="{109D0D29-721E-09B7-F642-85B4F26CD4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72CAAA-F1AF-0933-741F-BF6122C85925}"/>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480333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6693-F716-DE60-1D15-401EC0886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213278-BB9C-9BE3-942F-1E953D564AC6}"/>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4" name="Footer Placeholder 3">
            <a:extLst>
              <a:ext uri="{FF2B5EF4-FFF2-40B4-BE49-F238E27FC236}">
                <a16:creationId xmlns:a16="http://schemas.microsoft.com/office/drawing/2014/main" id="{9C73D024-32B0-FAC5-A5A4-7C4E495388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73268A-9071-812F-FA70-1800D38320F4}"/>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70581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CC523-C4B2-6C3B-81C4-3D5CDA9BDFDB}"/>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3" name="Footer Placeholder 2">
            <a:extLst>
              <a:ext uri="{FF2B5EF4-FFF2-40B4-BE49-F238E27FC236}">
                <a16:creationId xmlns:a16="http://schemas.microsoft.com/office/drawing/2014/main" id="{F6F81EE5-D9B7-50E3-AD6D-7C4A57FA1E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248DE0-1C19-F9D1-0688-D37AE8121305}"/>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050793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50CE-8FE1-EA7B-1ED3-A94B0FACC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39ECD3-A155-4695-8850-97E7E929A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DE3391-E6C9-1EAE-C812-A22B5476E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5F90B-A8A0-88E3-27D7-F360B181A3B0}"/>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E5290354-BCCC-ED84-8393-E5986A0944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FC6B6-C6F6-B0B8-8F82-805D3B19987C}"/>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587585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7646-5BBC-8FA4-5274-DC24492C0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627B49-A385-9E88-AA09-9E6121A98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79876F-2FD6-55DF-EF57-4C09F7478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275D4-9042-5EAD-ABB4-EEB788A929D0}"/>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6" name="Footer Placeholder 5">
            <a:extLst>
              <a:ext uri="{FF2B5EF4-FFF2-40B4-BE49-F238E27FC236}">
                <a16:creationId xmlns:a16="http://schemas.microsoft.com/office/drawing/2014/main" id="{FC0A4108-C1DC-2BC8-16BB-5D968E400C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AC7899-7524-B61C-D0C9-9B887A31054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887580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82D8-7D4F-305D-1AC1-9C92CD307A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53F9AE-487B-4AEE-02BF-B2A1EF1F7B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7DB147-773C-8C33-BEE4-06CC77E83DC7}"/>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3CF4FDED-672E-5D53-4553-77F10004F0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A7B7F-84D0-A924-73AB-A05C25362420}"/>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3802675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986C7-269D-3509-0939-FE74EB4317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14E18E-4236-AE42-75B0-5B2B7680F5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CEEB6-8858-39EC-8B1E-29519D6FD8B9}"/>
              </a:ext>
            </a:extLst>
          </p:cNvPr>
          <p:cNvSpPr>
            <a:spLocks noGrp="1"/>
          </p:cNvSpPr>
          <p:nvPr>
            <p:ph type="dt" sz="half" idx="10"/>
          </p:nvPr>
        </p:nvSpPr>
        <p:spPr/>
        <p:txBody>
          <a:body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B1B6F549-AB70-741F-BBA5-943507D65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75DF2-A822-7756-5425-A8D7417D9F7C}"/>
              </a:ext>
            </a:extLst>
          </p:cNvPr>
          <p:cNvSpPr>
            <a:spLocks noGrp="1"/>
          </p:cNvSpPr>
          <p:nvPr>
            <p:ph type="sldNum" sz="quarter" idx="12"/>
          </p:nvPr>
        </p:nvSpPr>
        <p:spPr/>
        <p:txBody>
          <a:bodyPr/>
          <a:lstStyle/>
          <a:p>
            <a:fld id="{F37AD34B-981B-46FD-A434-A1717DF3FC97}" type="slidenum">
              <a:rPr lang="en-US" smtClean="0"/>
              <a:t>‹#›</a:t>
            </a:fld>
            <a:endParaRPr lang="en-US"/>
          </a:p>
        </p:txBody>
      </p:sp>
    </p:spTree>
    <p:extLst>
      <p:ext uri="{BB962C8B-B14F-4D97-AF65-F5344CB8AC3E}">
        <p14:creationId xmlns:p14="http://schemas.microsoft.com/office/powerpoint/2010/main" val="146898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887FF-D281-263E-9BE9-4C4FA994E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E7F1D2-6ECB-7DBE-7C40-F2FE3CE655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033A6A-8E1B-1B47-220D-4FCC3D4AF6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0F053-AE75-4082-8DE7-17833BF6C130}" type="datetimeFigureOut">
              <a:rPr lang="en-US" smtClean="0"/>
              <a:t>10/30/26</a:t>
            </a:fld>
            <a:endParaRPr lang="en-US"/>
          </a:p>
        </p:txBody>
      </p:sp>
      <p:sp>
        <p:nvSpPr>
          <p:cNvPr id="5" name="Footer Placeholder 4">
            <a:extLst>
              <a:ext uri="{FF2B5EF4-FFF2-40B4-BE49-F238E27FC236}">
                <a16:creationId xmlns:a16="http://schemas.microsoft.com/office/drawing/2014/main" id="{D4E1E24D-E135-4FFE-5916-DFBE0BCFC1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3F6A4F-74C7-9F03-A9AA-BCC638BD1C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7AD34B-981B-46FD-A434-A1717DF3FC97}" type="slidenum">
              <a:rPr lang="en-US" smtClean="0"/>
              <a:t>‹#›</a:t>
            </a:fld>
            <a:endParaRPr lang="en-US"/>
          </a:p>
        </p:txBody>
      </p:sp>
    </p:spTree>
    <p:extLst>
      <p:ext uri="{BB962C8B-B14F-4D97-AF65-F5344CB8AC3E}">
        <p14:creationId xmlns:p14="http://schemas.microsoft.com/office/powerpoint/2010/main" val="576253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0B4F5-A44C-C73E-20B5-9C0125145EA4}"/>
              </a:ext>
            </a:extLst>
          </p:cNvPr>
          <p:cNvSpPr>
            <a:spLocks noGrp="1"/>
          </p:cNvSpPr>
          <p:nvPr>
            <p:ph type="ctrTitle"/>
          </p:nvPr>
        </p:nvSpPr>
        <p:spPr/>
        <p:txBody>
          <a:bodyPr/>
          <a:lstStyle/>
          <a:p>
            <a:r>
              <a:rPr lang="en-US" dirty="0"/>
              <a:t>Final Project</a:t>
            </a:r>
          </a:p>
        </p:txBody>
      </p:sp>
      <p:sp>
        <p:nvSpPr>
          <p:cNvPr id="3" name="Subtitle 2">
            <a:extLst>
              <a:ext uri="{FF2B5EF4-FFF2-40B4-BE49-F238E27FC236}">
                <a16:creationId xmlns:a16="http://schemas.microsoft.com/office/drawing/2014/main" id="{93800C5C-5BFB-57AD-AA90-82E915A44358}"/>
              </a:ext>
            </a:extLst>
          </p:cNvPr>
          <p:cNvSpPr>
            <a:spLocks noGrp="1"/>
          </p:cNvSpPr>
          <p:nvPr>
            <p:ph type="subTitle" idx="1"/>
          </p:nvPr>
        </p:nvSpPr>
        <p:spPr/>
        <p:txBody>
          <a:bodyPr/>
          <a:lstStyle/>
          <a:p>
            <a:r>
              <a:rPr lang="en-US" dirty="0"/>
              <a:t>Overview</a:t>
            </a:r>
          </a:p>
        </p:txBody>
      </p:sp>
    </p:spTree>
    <p:extLst>
      <p:ext uri="{BB962C8B-B14F-4D97-AF65-F5344CB8AC3E}">
        <p14:creationId xmlns:p14="http://schemas.microsoft.com/office/powerpoint/2010/main" val="1671602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8AF6-1F96-8416-BCC6-05B27E69D74C}"/>
              </a:ext>
            </a:extLst>
          </p:cNvPr>
          <p:cNvSpPr>
            <a:spLocks noGrp="1"/>
          </p:cNvSpPr>
          <p:nvPr>
            <p:ph type="title"/>
          </p:nvPr>
        </p:nvSpPr>
        <p:spPr>
          <a:xfrm>
            <a:off x="313944" y="338769"/>
            <a:ext cx="4626864" cy="663575"/>
          </a:xfrm>
        </p:spPr>
        <p:txBody>
          <a:bodyPr>
            <a:normAutofit fontScale="90000"/>
          </a:bodyPr>
          <a:lstStyle/>
          <a:p>
            <a:r>
              <a:rPr lang="en-US" dirty="0"/>
              <a:t>High Level Design</a:t>
            </a:r>
          </a:p>
        </p:txBody>
      </p:sp>
      <p:sp>
        <p:nvSpPr>
          <p:cNvPr id="4" name="Rectangle 3">
            <a:extLst>
              <a:ext uri="{FF2B5EF4-FFF2-40B4-BE49-F238E27FC236}">
                <a16:creationId xmlns:a16="http://schemas.microsoft.com/office/drawing/2014/main" id="{8856F786-0A76-964E-957C-8E8B15DC9C0D}"/>
              </a:ext>
            </a:extLst>
          </p:cNvPr>
          <p:cNvSpPr/>
          <p:nvPr/>
        </p:nvSpPr>
        <p:spPr>
          <a:xfrm>
            <a:off x="454152" y="1481328"/>
            <a:ext cx="7665720" cy="5111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6BAF521-F311-7785-DF37-AFA7EAE33E09}"/>
              </a:ext>
            </a:extLst>
          </p:cNvPr>
          <p:cNvSpPr txBox="1"/>
          <p:nvPr/>
        </p:nvSpPr>
        <p:spPr>
          <a:xfrm>
            <a:off x="2651760" y="1481328"/>
            <a:ext cx="2761488" cy="369332"/>
          </a:xfrm>
          <a:prstGeom prst="rect">
            <a:avLst/>
          </a:prstGeom>
          <a:noFill/>
        </p:spPr>
        <p:txBody>
          <a:bodyPr wrap="square" rtlCol="0">
            <a:spAutoFit/>
          </a:bodyPr>
          <a:lstStyle/>
          <a:p>
            <a:r>
              <a:rPr lang="en-US" dirty="0" err="1"/>
              <a:t>Terasic</a:t>
            </a:r>
            <a:r>
              <a:rPr lang="en-US" dirty="0"/>
              <a:t> Board</a:t>
            </a:r>
          </a:p>
        </p:txBody>
      </p:sp>
      <p:sp>
        <p:nvSpPr>
          <p:cNvPr id="6" name="Rectangle 5">
            <a:extLst>
              <a:ext uri="{FF2B5EF4-FFF2-40B4-BE49-F238E27FC236}">
                <a16:creationId xmlns:a16="http://schemas.microsoft.com/office/drawing/2014/main" id="{3CE97893-FD4F-8BE9-765F-DE68379A01A9}"/>
              </a:ext>
            </a:extLst>
          </p:cNvPr>
          <p:cNvSpPr/>
          <p:nvPr/>
        </p:nvSpPr>
        <p:spPr>
          <a:xfrm>
            <a:off x="838200"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8" name="Rectangle 7">
            <a:extLst>
              <a:ext uri="{FF2B5EF4-FFF2-40B4-BE49-F238E27FC236}">
                <a16:creationId xmlns:a16="http://schemas.microsoft.com/office/drawing/2014/main" id="{FE063828-70E4-5B34-AFBE-80186DC31FAA}"/>
              </a:ext>
            </a:extLst>
          </p:cNvPr>
          <p:cNvSpPr/>
          <p:nvPr/>
        </p:nvSpPr>
        <p:spPr>
          <a:xfrm>
            <a:off x="1584197"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9" name="Rectangle 8">
            <a:extLst>
              <a:ext uri="{FF2B5EF4-FFF2-40B4-BE49-F238E27FC236}">
                <a16:creationId xmlns:a16="http://schemas.microsoft.com/office/drawing/2014/main" id="{8A371D0A-DF24-E1F5-C923-BFC83E4B7852}"/>
              </a:ext>
            </a:extLst>
          </p:cNvPr>
          <p:cNvSpPr/>
          <p:nvPr/>
        </p:nvSpPr>
        <p:spPr>
          <a:xfrm>
            <a:off x="2471167"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0" name="Rectangle 9">
            <a:extLst>
              <a:ext uri="{FF2B5EF4-FFF2-40B4-BE49-F238E27FC236}">
                <a16:creationId xmlns:a16="http://schemas.microsoft.com/office/drawing/2014/main" id="{A595D16F-446A-67F9-62BA-086F1C469F83}"/>
              </a:ext>
            </a:extLst>
          </p:cNvPr>
          <p:cNvSpPr/>
          <p:nvPr/>
        </p:nvSpPr>
        <p:spPr>
          <a:xfrm>
            <a:off x="3208020"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1" name="Rectangle 10">
            <a:extLst>
              <a:ext uri="{FF2B5EF4-FFF2-40B4-BE49-F238E27FC236}">
                <a16:creationId xmlns:a16="http://schemas.microsoft.com/office/drawing/2014/main" id="{15558CCC-D52A-A42D-338A-E9F69A1C7121}"/>
              </a:ext>
            </a:extLst>
          </p:cNvPr>
          <p:cNvSpPr/>
          <p:nvPr/>
        </p:nvSpPr>
        <p:spPr>
          <a:xfrm>
            <a:off x="4105655"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2" name="Rectangle 11">
            <a:extLst>
              <a:ext uri="{FF2B5EF4-FFF2-40B4-BE49-F238E27FC236}">
                <a16:creationId xmlns:a16="http://schemas.microsoft.com/office/drawing/2014/main" id="{3C378A62-DCE3-CB76-3CB8-71F3A2E04E27}"/>
              </a:ext>
            </a:extLst>
          </p:cNvPr>
          <p:cNvSpPr/>
          <p:nvPr/>
        </p:nvSpPr>
        <p:spPr>
          <a:xfrm>
            <a:off x="4885944" y="3895732"/>
            <a:ext cx="685800" cy="8321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Hex Disp</a:t>
            </a:r>
          </a:p>
        </p:txBody>
      </p:sp>
      <p:sp>
        <p:nvSpPr>
          <p:cNvPr id="13" name="Rectangle 12">
            <a:extLst>
              <a:ext uri="{FF2B5EF4-FFF2-40B4-BE49-F238E27FC236}">
                <a16:creationId xmlns:a16="http://schemas.microsoft.com/office/drawing/2014/main" id="{12B711E0-28B1-76A8-4058-31367478C0D3}"/>
              </a:ext>
            </a:extLst>
          </p:cNvPr>
          <p:cNvSpPr/>
          <p:nvPr/>
        </p:nvSpPr>
        <p:spPr>
          <a:xfrm>
            <a:off x="5326380"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819E1B-425E-0928-26FB-A1B36B91D624}"/>
              </a:ext>
            </a:extLst>
          </p:cNvPr>
          <p:cNvSpPr/>
          <p:nvPr/>
        </p:nvSpPr>
        <p:spPr>
          <a:xfrm>
            <a:off x="4486655"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54A586-FFB0-6963-5119-A45F3D1DAAE7}"/>
              </a:ext>
            </a:extLst>
          </p:cNvPr>
          <p:cNvSpPr/>
          <p:nvPr/>
        </p:nvSpPr>
        <p:spPr>
          <a:xfrm>
            <a:off x="3604258" y="6000250"/>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D99483-EAD4-3E5C-BC1C-12F97BAC34C1}"/>
              </a:ext>
            </a:extLst>
          </p:cNvPr>
          <p:cNvSpPr/>
          <p:nvPr/>
        </p:nvSpPr>
        <p:spPr>
          <a:xfrm>
            <a:off x="2814067" y="5981962"/>
            <a:ext cx="173736" cy="3530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FB2E96-1E24-48E1-4B03-2CC5F710D840}"/>
              </a:ext>
            </a:extLst>
          </p:cNvPr>
          <p:cNvSpPr txBox="1"/>
          <p:nvPr/>
        </p:nvSpPr>
        <p:spPr>
          <a:xfrm>
            <a:off x="5101209" y="5677531"/>
            <a:ext cx="1243584" cy="369332"/>
          </a:xfrm>
          <a:prstGeom prst="rect">
            <a:avLst/>
          </a:prstGeom>
          <a:noFill/>
        </p:spPr>
        <p:txBody>
          <a:bodyPr wrap="square" rtlCol="0">
            <a:spAutoFit/>
          </a:bodyPr>
          <a:lstStyle/>
          <a:p>
            <a:r>
              <a:rPr lang="en-US" dirty="0"/>
              <a:t>SW0</a:t>
            </a:r>
          </a:p>
        </p:txBody>
      </p:sp>
      <p:sp>
        <p:nvSpPr>
          <p:cNvPr id="18" name="TextBox 17">
            <a:extLst>
              <a:ext uri="{FF2B5EF4-FFF2-40B4-BE49-F238E27FC236}">
                <a16:creationId xmlns:a16="http://schemas.microsoft.com/office/drawing/2014/main" id="{3D7A55B8-C7BB-AD9D-A9D9-EAC159EE3149}"/>
              </a:ext>
            </a:extLst>
          </p:cNvPr>
          <p:cNvSpPr txBox="1"/>
          <p:nvPr/>
        </p:nvSpPr>
        <p:spPr>
          <a:xfrm>
            <a:off x="4256532" y="5705856"/>
            <a:ext cx="685800" cy="369332"/>
          </a:xfrm>
          <a:prstGeom prst="rect">
            <a:avLst/>
          </a:prstGeom>
          <a:noFill/>
        </p:spPr>
        <p:txBody>
          <a:bodyPr wrap="square" rtlCol="0">
            <a:spAutoFit/>
          </a:bodyPr>
          <a:lstStyle/>
          <a:p>
            <a:r>
              <a:rPr lang="en-US" dirty="0"/>
              <a:t>SW1</a:t>
            </a:r>
          </a:p>
        </p:txBody>
      </p:sp>
      <p:sp>
        <p:nvSpPr>
          <p:cNvPr id="19" name="TextBox 18">
            <a:extLst>
              <a:ext uri="{FF2B5EF4-FFF2-40B4-BE49-F238E27FC236}">
                <a16:creationId xmlns:a16="http://schemas.microsoft.com/office/drawing/2014/main" id="{081B058B-B034-F408-BBDE-50B0A4F534A9}"/>
              </a:ext>
            </a:extLst>
          </p:cNvPr>
          <p:cNvSpPr txBox="1"/>
          <p:nvPr/>
        </p:nvSpPr>
        <p:spPr>
          <a:xfrm>
            <a:off x="3332606" y="5687568"/>
            <a:ext cx="1243584" cy="369332"/>
          </a:xfrm>
          <a:prstGeom prst="rect">
            <a:avLst/>
          </a:prstGeom>
          <a:noFill/>
        </p:spPr>
        <p:txBody>
          <a:bodyPr wrap="square" rtlCol="0">
            <a:spAutoFit/>
          </a:bodyPr>
          <a:lstStyle/>
          <a:p>
            <a:r>
              <a:rPr lang="en-US" dirty="0"/>
              <a:t>SW2</a:t>
            </a:r>
          </a:p>
        </p:txBody>
      </p:sp>
      <p:sp>
        <p:nvSpPr>
          <p:cNvPr id="20" name="TextBox 19">
            <a:extLst>
              <a:ext uri="{FF2B5EF4-FFF2-40B4-BE49-F238E27FC236}">
                <a16:creationId xmlns:a16="http://schemas.microsoft.com/office/drawing/2014/main" id="{6812F5E6-C231-1092-83D8-CA95FAE668D6}"/>
              </a:ext>
            </a:extLst>
          </p:cNvPr>
          <p:cNvSpPr txBox="1"/>
          <p:nvPr/>
        </p:nvSpPr>
        <p:spPr>
          <a:xfrm>
            <a:off x="2601469" y="5668387"/>
            <a:ext cx="680084" cy="369332"/>
          </a:xfrm>
          <a:prstGeom prst="rect">
            <a:avLst/>
          </a:prstGeom>
          <a:noFill/>
        </p:spPr>
        <p:txBody>
          <a:bodyPr wrap="square" rtlCol="0">
            <a:spAutoFit/>
          </a:bodyPr>
          <a:lstStyle/>
          <a:p>
            <a:r>
              <a:rPr lang="en-US" dirty="0"/>
              <a:t>SW3</a:t>
            </a:r>
          </a:p>
        </p:txBody>
      </p:sp>
      <p:sp>
        <p:nvSpPr>
          <p:cNvPr id="21" name="Oval 20">
            <a:extLst>
              <a:ext uri="{FF2B5EF4-FFF2-40B4-BE49-F238E27FC236}">
                <a16:creationId xmlns:a16="http://schemas.microsoft.com/office/drawing/2014/main" id="{84F8FE47-674E-E5D0-9B3A-355B58260335}"/>
              </a:ext>
            </a:extLst>
          </p:cNvPr>
          <p:cNvSpPr/>
          <p:nvPr/>
        </p:nvSpPr>
        <p:spPr>
          <a:xfrm>
            <a:off x="5029200" y="4863103"/>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7734648-0475-E8AC-FC01-CFBD916DE03E}"/>
              </a:ext>
            </a:extLst>
          </p:cNvPr>
          <p:cNvSpPr/>
          <p:nvPr/>
        </p:nvSpPr>
        <p:spPr>
          <a:xfrm>
            <a:off x="4294631" y="4863103"/>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E857050-4688-0272-688E-83A4427A24C8}"/>
              </a:ext>
            </a:extLst>
          </p:cNvPr>
          <p:cNvSpPr/>
          <p:nvPr/>
        </p:nvSpPr>
        <p:spPr>
          <a:xfrm>
            <a:off x="3358896" y="4843417"/>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53A648C-E8D9-869A-9D47-749156BCBCA4}"/>
              </a:ext>
            </a:extLst>
          </p:cNvPr>
          <p:cNvSpPr/>
          <p:nvPr/>
        </p:nvSpPr>
        <p:spPr>
          <a:xfrm>
            <a:off x="2603755" y="4842465"/>
            <a:ext cx="384048" cy="3749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A8C8A17-62EC-1169-A780-B127BE9B27F8}"/>
              </a:ext>
            </a:extLst>
          </p:cNvPr>
          <p:cNvSpPr txBox="1"/>
          <p:nvPr/>
        </p:nvSpPr>
        <p:spPr>
          <a:xfrm>
            <a:off x="4940808" y="5253335"/>
            <a:ext cx="704088" cy="369332"/>
          </a:xfrm>
          <a:prstGeom prst="rect">
            <a:avLst/>
          </a:prstGeom>
          <a:noFill/>
        </p:spPr>
        <p:txBody>
          <a:bodyPr wrap="square" rtlCol="0">
            <a:spAutoFit/>
          </a:bodyPr>
          <a:lstStyle/>
          <a:p>
            <a:r>
              <a:rPr lang="en-US" dirty="0"/>
              <a:t>LED0</a:t>
            </a:r>
          </a:p>
        </p:txBody>
      </p:sp>
      <p:sp>
        <p:nvSpPr>
          <p:cNvPr id="26" name="TextBox 25">
            <a:extLst>
              <a:ext uri="{FF2B5EF4-FFF2-40B4-BE49-F238E27FC236}">
                <a16:creationId xmlns:a16="http://schemas.microsoft.com/office/drawing/2014/main" id="{50E24838-4083-A8FE-31D7-FB449C03B1F3}"/>
              </a:ext>
            </a:extLst>
          </p:cNvPr>
          <p:cNvSpPr txBox="1"/>
          <p:nvPr/>
        </p:nvSpPr>
        <p:spPr>
          <a:xfrm>
            <a:off x="4181856" y="5243084"/>
            <a:ext cx="704088" cy="369332"/>
          </a:xfrm>
          <a:prstGeom prst="rect">
            <a:avLst/>
          </a:prstGeom>
          <a:noFill/>
        </p:spPr>
        <p:txBody>
          <a:bodyPr wrap="square" rtlCol="0">
            <a:spAutoFit/>
          </a:bodyPr>
          <a:lstStyle/>
          <a:p>
            <a:r>
              <a:rPr lang="en-US" dirty="0"/>
              <a:t>LED1</a:t>
            </a:r>
          </a:p>
        </p:txBody>
      </p:sp>
      <p:sp>
        <p:nvSpPr>
          <p:cNvPr id="27" name="TextBox 26">
            <a:extLst>
              <a:ext uri="{FF2B5EF4-FFF2-40B4-BE49-F238E27FC236}">
                <a16:creationId xmlns:a16="http://schemas.microsoft.com/office/drawing/2014/main" id="{38759C7E-097C-9054-5566-0463429D1BC3}"/>
              </a:ext>
            </a:extLst>
          </p:cNvPr>
          <p:cNvSpPr txBox="1"/>
          <p:nvPr/>
        </p:nvSpPr>
        <p:spPr>
          <a:xfrm>
            <a:off x="3165348" y="5257407"/>
            <a:ext cx="704088" cy="369332"/>
          </a:xfrm>
          <a:prstGeom prst="rect">
            <a:avLst/>
          </a:prstGeom>
          <a:noFill/>
        </p:spPr>
        <p:txBody>
          <a:bodyPr wrap="square" rtlCol="0">
            <a:spAutoFit/>
          </a:bodyPr>
          <a:lstStyle/>
          <a:p>
            <a:r>
              <a:rPr lang="en-US" dirty="0"/>
              <a:t>LED2</a:t>
            </a:r>
          </a:p>
        </p:txBody>
      </p:sp>
      <p:sp>
        <p:nvSpPr>
          <p:cNvPr id="28" name="TextBox 27">
            <a:extLst>
              <a:ext uri="{FF2B5EF4-FFF2-40B4-BE49-F238E27FC236}">
                <a16:creationId xmlns:a16="http://schemas.microsoft.com/office/drawing/2014/main" id="{5C5DA40D-26DD-7B02-8F9F-34D1EDCAAB04}"/>
              </a:ext>
            </a:extLst>
          </p:cNvPr>
          <p:cNvSpPr txBox="1"/>
          <p:nvPr/>
        </p:nvSpPr>
        <p:spPr>
          <a:xfrm>
            <a:off x="2465832" y="5238007"/>
            <a:ext cx="704088" cy="369332"/>
          </a:xfrm>
          <a:prstGeom prst="rect">
            <a:avLst/>
          </a:prstGeom>
          <a:noFill/>
        </p:spPr>
        <p:txBody>
          <a:bodyPr wrap="square" rtlCol="0">
            <a:spAutoFit/>
          </a:bodyPr>
          <a:lstStyle/>
          <a:p>
            <a:r>
              <a:rPr lang="en-US" dirty="0"/>
              <a:t>LED3</a:t>
            </a:r>
          </a:p>
        </p:txBody>
      </p:sp>
      <p:sp>
        <p:nvSpPr>
          <p:cNvPr id="29" name="Rectangle 28">
            <a:extLst>
              <a:ext uri="{FF2B5EF4-FFF2-40B4-BE49-F238E27FC236}">
                <a16:creationId xmlns:a16="http://schemas.microsoft.com/office/drawing/2014/main" id="{39692126-8598-1AAF-5FE1-06E08F555523}"/>
              </a:ext>
            </a:extLst>
          </p:cNvPr>
          <p:cNvSpPr/>
          <p:nvPr/>
        </p:nvSpPr>
        <p:spPr>
          <a:xfrm>
            <a:off x="9573768" y="2340864"/>
            <a:ext cx="2386583" cy="2788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Keypad</a:t>
            </a:r>
          </a:p>
        </p:txBody>
      </p:sp>
      <p:sp>
        <p:nvSpPr>
          <p:cNvPr id="30" name="Rectangle 29">
            <a:extLst>
              <a:ext uri="{FF2B5EF4-FFF2-40B4-BE49-F238E27FC236}">
                <a16:creationId xmlns:a16="http://schemas.microsoft.com/office/drawing/2014/main" id="{C7D25A52-1F3F-1B45-63FE-E0C4BEB6E34D}"/>
              </a:ext>
            </a:extLst>
          </p:cNvPr>
          <p:cNvSpPr/>
          <p:nvPr/>
        </p:nvSpPr>
        <p:spPr>
          <a:xfrm>
            <a:off x="7991856" y="3429000"/>
            <a:ext cx="1801368" cy="905256"/>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B91F869-82F1-02F0-AEB2-F0122A10E147}"/>
              </a:ext>
            </a:extLst>
          </p:cNvPr>
          <p:cNvGrpSpPr/>
          <p:nvPr/>
        </p:nvGrpSpPr>
        <p:grpSpPr>
          <a:xfrm>
            <a:off x="7531610" y="5981962"/>
            <a:ext cx="446529" cy="453574"/>
            <a:chOff x="7141464" y="496062"/>
            <a:chExt cx="786384" cy="758952"/>
          </a:xfrm>
        </p:grpSpPr>
        <p:sp>
          <p:nvSpPr>
            <p:cNvPr id="32" name="Rectangle 31">
              <a:extLst>
                <a:ext uri="{FF2B5EF4-FFF2-40B4-BE49-F238E27FC236}">
                  <a16:creationId xmlns:a16="http://schemas.microsoft.com/office/drawing/2014/main" id="{3CF13254-1835-2A6B-18F2-0A74F2A2BC3A}"/>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F1D2C46-56E0-6D84-B2D3-43E073C26FBF}"/>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CA251D78-A6FC-A5FF-205A-405A0595EEC8}"/>
              </a:ext>
            </a:extLst>
          </p:cNvPr>
          <p:cNvGrpSpPr/>
          <p:nvPr/>
        </p:nvGrpSpPr>
        <p:grpSpPr>
          <a:xfrm>
            <a:off x="7000880" y="5981962"/>
            <a:ext cx="446529" cy="453574"/>
            <a:chOff x="7141464" y="496062"/>
            <a:chExt cx="786384" cy="758952"/>
          </a:xfrm>
        </p:grpSpPr>
        <p:sp>
          <p:nvSpPr>
            <p:cNvPr id="35" name="Rectangle 34">
              <a:extLst>
                <a:ext uri="{FF2B5EF4-FFF2-40B4-BE49-F238E27FC236}">
                  <a16:creationId xmlns:a16="http://schemas.microsoft.com/office/drawing/2014/main" id="{FEB94EAC-27D4-AB47-4FDC-B115AE4E45B1}"/>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B6D9796-D104-9972-2A66-CD769C57B4E5}"/>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3421D4D0-01C7-C7D5-43C6-893E97B751C6}"/>
              </a:ext>
            </a:extLst>
          </p:cNvPr>
          <p:cNvGrpSpPr/>
          <p:nvPr/>
        </p:nvGrpSpPr>
        <p:grpSpPr>
          <a:xfrm>
            <a:off x="6459478" y="5981962"/>
            <a:ext cx="446529" cy="453574"/>
            <a:chOff x="7141464" y="496062"/>
            <a:chExt cx="786384" cy="758952"/>
          </a:xfrm>
        </p:grpSpPr>
        <p:sp>
          <p:nvSpPr>
            <p:cNvPr id="38" name="Rectangle 37">
              <a:extLst>
                <a:ext uri="{FF2B5EF4-FFF2-40B4-BE49-F238E27FC236}">
                  <a16:creationId xmlns:a16="http://schemas.microsoft.com/office/drawing/2014/main" id="{F4CE2468-DD69-795E-16AD-33D6B53A8AA8}"/>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6027D6F-0F61-B9E2-8F5E-57A6B4BF7E08}"/>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20337976-8BEC-4B23-01B2-9404A7656462}"/>
              </a:ext>
            </a:extLst>
          </p:cNvPr>
          <p:cNvGrpSpPr/>
          <p:nvPr/>
        </p:nvGrpSpPr>
        <p:grpSpPr>
          <a:xfrm>
            <a:off x="5918079" y="5977864"/>
            <a:ext cx="446529" cy="453574"/>
            <a:chOff x="7141464" y="496062"/>
            <a:chExt cx="786384" cy="758952"/>
          </a:xfrm>
        </p:grpSpPr>
        <p:sp>
          <p:nvSpPr>
            <p:cNvPr id="41" name="Rectangle 40">
              <a:extLst>
                <a:ext uri="{FF2B5EF4-FFF2-40B4-BE49-F238E27FC236}">
                  <a16:creationId xmlns:a16="http://schemas.microsoft.com/office/drawing/2014/main" id="{902C65DA-AFA5-8E51-7C63-31F2507747ED}"/>
                </a:ext>
              </a:extLst>
            </p:cNvPr>
            <p:cNvSpPr/>
            <p:nvPr/>
          </p:nvSpPr>
          <p:spPr>
            <a:xfrm>
              <a:off x="7141464" y="496062"/>
              <a:ext cx="786384" cy="7589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1AE1F0C5-012A-12A1-7977-085A77AEFE57}"/>
                </a:ext>
              </a:extLst>
            </p:cNvPr>
            <p:cNvSpPr/>
            <p:nvPr/>
          </p:nvSpPr>
          <p:spPr>
            <a:xfrm>
              <a:off x="7287768" y="642366"/>
              <a:ext cx="493776" cy="4663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TextBox 42">
            <a:extLst>
              <a:ext uri="{FF2B5EF4-FFF2-40B4-BE49-F238E27FC236}">
                <a16:creationId xmlns:a16="http://schemas.microsoft.com/office/drawing/2014/main" id="{B32B4941-4389-39B9-6A9C-BE356BDF20E1}"/>
              </a:ext>
            </a:extLst>
          </p:cNvPr>
          <p:cNvSpPr txBox="1"/>
          <p:nvPr/>
        </p:nvSpPr>
        <p:spPr>
          <a:xfrm>
            <a:off x="6367674" y="5656348"/>
            <a:ext cx="658368" cy="369332"/>
          </a:xfrm>
          <a:prstGeom prst="rect">
            <a:avLst/>
          </a:prstGeom>
          <a:noFill/>
        </p:spPr>
        <p:txBody>
          <a:bodyPr wrap="square" rtlCol="0">
            <a:spAutoFit/>
          </a:bodyPr>
          <a:lstStyle/>
          <a:p>
            <a:r>
              <a:rPr lang="en-US" dirty="0"/>
              <a:t>Key2</a:t>
            </a:r>
          </a:p>
        </p:txBody>
      </p:sp>
      <p:sp>
        <p:nvSpPr>
          <p:cNvPr id="44" name="TextBox 43">
            <a:extLst>
              <a:ext uri="{FF2B5EF4-FFF2-40B4-BE49-F238E27FC236}">
                <a16:creationId xmlns:a16="http://schemas.microsoft.com/office/drawing/2014/main" id="{E3EF91A3-C93C-B2FF-4965-1198D5B6BBD4}"/>
              </a:ext>
            </a:extLst>
          </p:cNvPr>
          <p:cNvSpPr txBox="1"/>
          <p:nvPr/>
        </p:nvSpPr>
        <p:spPr>
          <a:xfrm>
            <a:off x="5799405" y="5664342"/>
            <a:ext cx="658368" cy="369332"/>
          </a:xfrm>
          <a:prstGeom prst="rect">
            <a:avLst/>
          </a:prstGeom>
          <a:noFill/>
        </p:spPr>
        <p:txBody>
          <a:bodyPr wrap="square" rtlCol="0">
            <a:spAutoFit/>
          </a:bodyPr>
          <a:lstStyle/>
          <a:p>
            <a:r>
              <a:rPr lang="en-US" dirty="0"/>
              <a:t>Key3</a:t>
            </a:r>
          </a:p>
        </p:txBody>
      </p:sp>
      <p:sp>
        <p:nvSpPr>
          <p:cNvPr id="45" name="TextBox 44">
            <a:extLst>
              <a:ext uri="{FF2B5EF4-FFF2-40B4-BE49-F238E27FC236}">
                <a16:creationId xmlns:a16="http://schemas.microsoft.com/office/drawing/2014/main" id="{8FB403B6-A9E7-B5C9-85F7-85F2A8CD3BB5}"/>
              </a:ext>
            </a:extLst>
          </p:cNvPr>
          <p:cNvSpPr txBox="1"/>
          <p:nvPr/>
        </p:nvSpPr>
        <p:spPr>
          <a:xfrm>
            <a:off x="6906007" y="5656348"/>
            <a:ext cx="658368" cy="369332"/>
          </a:xfrm>
          <a:prstGeom prst="rect">
            <a:avLst/>
          </a:prstGeom>
          <a:noFill/>
        </p:spPr>
        <p:txBody>
          <a:bodyPr wrap="square" rtlCol="0">
            <a:spAutoFit/>
          </a:bodyPr>
          <a:lstStyle/>
          <a:p>
            <a:r>
              <a:rPr lang="en-US" dirty="0"/>
              <a:t>Key1</a:t>
            </a:r>
          </a:p>
        </p:txBody>
      </p:sp>
      <p:sp>
        <p:nvSpPr>
          <p:cNvPr id="46" name="TextBox 45">
            <a:extLst>
              <a:ext uri="{FF2B5EF4-FFF2-40B4-BE49-F238E27FC236}">
                <a16:creationId xmlns:a16="http://schemas.microsoft.com/office/drawing/2014/main" id="{8C7FE03C-EAEF-7E9C-5462-70A506C7EC56}"/>
              </a:ext>
            </a:extLst>
          </p:cNvPr>
          <p:cNvSpPr txBox="1"/>
          <p:nvPr/>
        </p:nvSpPr>
        <p:spPr>
          <a:xfrm>
            <a:off x="7446639" y="5668387"/>
            <a:ext cx="658368" cy="369332"/>
          </a:xfrm>
          <a:prstGeom prst="rect">
            <a:avLst/>
          </a:prstGeom>
          <a:noFill/>
        </p:spPr>
        <p:txBody>
          <a:bodyPr wrap="square" rtlCol="0">
            <a:spAutoFit/>
          </a:bodyPr>
          <a:lstStyle/>
          <a:p>
            <a:r>
              <a:rPr lang="en-US" dirty="0"/>
              <a:t>Key0</a:t>
            </a:r>
          </a:p>
        </p:txBody>
      </p:sp>
      <p:sp>
        <p:nvSpPr>
          <p:cNvPr id="3" name="TextBox 2">
            <a:extLst>
              <a:ext uri="{FF2B5EF4-FFF2-40B4-BE49-F238E27FC236}">
                <a16:creationId xmlns:a16="http://schemas.microsoft.com/office/drawing/2014/main" id="{AF52171A-B87A-D4D6-BB09-4F74C92A98F0}"/>
              </a:ext>
            </a:extLst>
          </p:cNvPr>
          <p:cNvSpPr txBox="1"/>
          <p:nvPr/>
        </p:nvSpPr>
        <p:spPr>
          <a:xfrm>
            <a:off x="6542554" y="210065"/>
            <a:ext cx="904086" cy="369332"/>
          </a:xfrm>
          <a:prstGeom prst="rect">
            <a:avLst/>
          </a:prstGeom>
          <a:noFill/>
        </p:spPr>
        <p:txBody>
          <a:bodyPr wrap="square" rtlCol="0">
            <a:spAutoFit/>
          </a:bodyPr>
          <a:lstStyle/>
          <a:p>
            <a:r>
              <a:rPr lang="en-US" dirty="0"/>
              <a:t>Nickel</a:t>
            </a:r>
            <a:endParaRPr dirty="0"/>
          </a:p>
        </p:txBody>
      </p:sp>
      <p:sp>
        <p:nvSpPr>
          <p:cNvPr id="7" name="TextBox 6">
            <a:extLst>
              <a:ext uri="{FF2B5EF4-FFF2-40B4-BE49-F238E27FC236}">
                <a16:creationId xmlns:a16="http://schemas.microsoft.com/office/drawing/2014/main" id="{40F60AB7-5ED3-343D-393F-6EC3E0500748}"/>
              </a:ext>
            </a:extLst>
          </p:cNvPr>
          <p:cNvSpPr txBox="1"/>
          <p:nvPr/>
        </p:nvSpPr>
        <p:spPr>
          <a:xfrm>
            <a:off x="5201234" y="451276"/>
            <a:ext cx="904086" cy="369332"/>
          </a:xfrm>
          <a:prstGeom prst="rect">
            <a:avLst/>
          </a:prstGeom>
          <a:noFill/>
        </p:spPr>
        <p:txBody>
          <a:bodyPr wrap="square" rtlCol="0">
            <a:spAutoFit/>
          </a:bodyPr>
          <a:lstStyle/>
          <a:p>
            <a:r>
              <a:rPr lang="en-US" dirty="0"/>
              <a:t>Dime</a:t>
            </a:r>
            <a:endParaRPr dirty="0"/>
          </a:p>
        </p:txBody>
      </p:sp>
      <p:sp>
        <p:nvSpPr>
          <p:cNvPr id="47" name="TextBox 46">
            <a:extLst>
              <a:ext uri="{FF2B5EF4-FFF2-40B4-BE49-F238E27FC236}">
                <a16:creationId xmlns:a16="http://schemas.microsoft.com/office/drawing/2014/main" id="{26E43EA1-A573-15CD-3BD1-0AE1911B5E82}"/>
              </a:ext>
            </a:extLst>
          </p:cNvPr>
          <p:cNvSpPr txBox="1"/>
          <p:nvPr/>
        </p:nvSpPr>
        <p:spPr>
          <a:xfrm>
            <a:off x="4019235" y="834560"/>
            <a:ext cx="1192396" cy="369332"/>
          </a:xfrm>
          <a:prstGeom prst="rect">
            <a:avLst/>
          </a:prstGeom>
          <a:noFill/>
        </p:spPr>
        <p:txBody>
          <a:bodyPr wrap="square" rtlCol="0">
            <a:spAutoFit/>
          </a:bodyPr>
          <a:lstStyle/>
          <a:p>
            <a:r>
              <a:rPr lang="en-US" dirty="0"/>
              <a:t>Quarter</a:t>
            </a:r>
            <a:endParaRPr dirty="0"/>
          </a:p>
        </p:txBody>
      </p:sp>
      <p:sp>
        <p:nvSpPr>
          <p:cNvPr id="48" name="TextBox 47">
            <a:extLst>
              <a:ext uri="{FF2B5EF4-FFF2-40B4-BE49-F238E27FC236}">
                <a16:creationId xmlns:a16="http://schemas.microsoft.com/office/drawing/2014/main" id="{8BBB1CCA-8331-1C2F-3B11-B379C03E7747}"/>
              </a:ext>
            </a:extLst>
          </p:cNvPr>
          <p:cNvSpPr txBox="1"/>
          <p:nvPr/>
        </p:nvSpPr>
        <p:spPr>
          <a:xfrm>
            <a:off x="1843775" y="1019226"/>
            <a:ext cx="904086" cy="369332"/>
          </a:xfrm>
          <a:prstGeom prst="rect">
            <a:avLst/>
          </a:prstGeom>
          <a:noFill/>
        </p:spPr>
        <p:txBody>
          <a:bodyPr wrap="square" rtlCol="0">
            <a:spAutoFit/>
          </a:bodyPr>
          <a:lstStyle/>
          <a:p>
            <a:r>
              <a:rPr lang="en-US" dirty="0"/>
              <a:t>Dollar</a:t>
            </a:r>
            <a:endParaRPr dirty="0"/>
          </a:p>
        </p:txBody>
      </p:sp>
      <p:cxnSp>
        <p:nvCxnSpPr>
          <p:cNvPr id="50" name="Straight Arrow Connector 49">
            <a:extLst>
              <a:ext uri="{FF2B5EF4-FFF2-40B4-BE49-F238E27FC236}">
                <a16:creationId xmlns:a16="http://schemas.microsoft.com/office/drawing/2014/main" id="{1849DE1E-4B7B-C74A-E21F-BAE64F0A2407}"/>
              </a:ext>
            </a:extLst>
          </p:cNvPr>
          <p:cNvCxnSpPr>
            <a:cxnSpLocks/>
            <a:stCxn id="48" idx="2"/>
            <a:endCxn id="24" idx="0"/>
          </p:cNvCxnSpPr>
          <p:nvPr/>
        </p:nvCxnSpPr>
        <p:spPr>
          <a:xfrm>
            <a:off x="2295818" y="1388558"/>
            <a:ext cx="499961" cy="345390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3" name="Straight Arrow Connector 52">
            <a:extLst>
              <a:ext uri="{FF2B5EF4-FFF2-40B4-BE49-F238E27FC236}">
                <a16:creationId xmlns:a16="http://schemas.microsoft.com/office/drawing/2014/main" id="{3E51DC92-7DFF-C00A-0100-4F2395FD5C8D}"/>
              </a:ext>
            </a:extLst>
          </p:cNvPr>
          <p:cNvCxnSpPr/>
          <p:nvPr/>
        </p:nvCxnSpPr>
        <p:spPr>
          <a:xfrm flipH="1">
            <a:off x="5413248" y="586101"/>
            <a:ext cx="1409684" cy="425636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5" name="Straight Arrow Connector 54">
            <a:extLst>
              <a:ext uri="{FF2B5EF4-FFF2-40B4-BE49-F238E27FC236}">
                <a16:creationId xmlns:a16="http://schemas.microsoft.com/office/drawing/2014/main" id="{EAF946C0-F523-7F82-0406-239BF8620D78}"/>
              </a:ext>
            </a:extLst>
          </p:cNvPr>
          <p:cNvCxnSpPr>
            <a:cxnSpLocks/>
          </p:cNvCxnSpPr>
          <p:nvPr/>
        </p:nvCxnSpPr>
        <p:spPr>
          <a:xfrm flipH="1">
            <a:off x="4678679" y="835936"/>
            <a:ext cx="847344" cy="402716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7" name="Straight Arrow Connector 56">
            <a:extLst>
              <a:ext uri="{FF2B5EF4-FFF2-40B4-BE49-F238E27FC236}">
                <a16:creationId xmlns:a16="http://schemas.microsoft.com/office/drawing/2014/main" id="{EF51334E-363A-B303-E32C-E8267EC7BA63}"/>
              </a:ext>
            </a:extLst>
          </p:cNvPr>
          <p:cNvCxnSpPr>
            <a:cxnSpLocks/>
          </p:cNvCxnSpPr>
          <p:nvPr/>
        </p:nvCxnSpPr>
        <p:spPr>
          <a:xfrm flipH="1">
            <a:off x="3604258" y="1214046"/>
            <a:ext cx="1082042" cy="362841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4" name="Straight Arrow Connector 63">
            <a:extLst>
              <a:ext uri="{FF2B5EF4-FFF2-40B4-BE49-F238E27FC236}">
                <a16:creationId xmlns:a16="http://schemas.microsoft.com/office/drawing/2014/main" id="{B06B32CD-3280-1691-24AD-20433332E43A}"/>
              </a:ext>
            </a:extLst>
          </p:cNvPr>
          <p:cNvCxnSpPr>
            <a:endCxn id="17" idx="0"/>
          </p:cNvCxnSpPr>
          <p:nvPr/>
        </p:nvCxnSpPr>
        <p:spPr>
          <a:xfrm flipH="1">
            <a:off x="5723001" y="670556"/>
            <a:ext cx="1501143" cy="500697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6" name="Straight Arrow Connector 65">
            <a:extLst>
              <a:ext uri="{FF2B5EF4-FFF2-40B4-BE49-F238E27FC236}">
                <a16:creationId xmlns:a16="http://schemas.microsoft.com/office/drawing/2014/main" id="{9A74E4F1-2275-7246-18BC-F6EF5C4D7434}"/>
              </a:ext>
            </a:extLst>
          </p:cNvPr>
          <p:cNvCxnSpPr/>
          <p:nvPr/>
        </p:nvCxnSpPr>
        <p:spPr>
          <a:xfrm flipH="1">
            <a:off x="4791455" y="820608"/>
            <a:ext cx="1007950" cy="488524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8" name="Straight Arrow Connector 67">
            <a:extLst>
              <a:ext uri="{FF2B5EF4-FFF2-40B4-BE49-F238E27FC236}">
                <a16:creationId xmlns:a16="http://schemas.microsoft.com/office/drawing/2014/main" id="{75AA888D-E830-7B03-5C09-A3DC726F9306}"/>
              </a:ext>
            </a:extLst>
          </p:cNvPr>
          <p:cNvCxnSpPr/>
          <p:nvPr/>
        </p:nvCxnSpPr>
        <p:spPr>
          <a:xfrm flipH="1">
            <a:off x="3777994" y="1203892"/>
            <a:ext cx="516637" cy="450196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9" name="Straight Arrow Connector 68">
            <a:extLst>
              <a:ext uri="{FF2B5EF4-FFF2-40B4-BE49-F238E27FC236}">
                <a16:creationId xmlns:a16="http://schemas.microsoft.com/office/drawing/2014/main" id="{2BB34F56-ABF6-76B2-1E40-DBFD963AEC7F}"/>
              </a:ext>
            </a:extLst>
          </p:cNvPr>
          <p:cNvCxnSpPr>
            <a:cxnSpLocks/>
          </p:cNvCxnSpPr>
          <p:nvPr/>
        </p:nvCxnSpPr>
        <p:spPr>
          <a:xfrm>
            <a:off x="2199420" y="1314682"/>
            <a:ext cx="494251" cy="439117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96167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1CC0-E444-2726-26AA-53A0D7B1F68C}"/>
              </a:ext>
            </a:extLst>
          </p:cNvPr>
          <p:cNvSpPr>
            <a:spLocks noGrp="1"/>
          </p:cNvSpPr>
          <p:nvPr>
            <p:ph type="title"/>
          </p:nvPr>
        </p:nvSpPr>
        <p:spPr>
          <a:xfrm>
            <a:off x="755904" y="154813"/>
            <a:ext cx="10515600" cy="622427"/>
          </a:xfrm>
        </p:spPr>
        <p:txBody>
          <a:bodyPr>
            <a:normAutofit fontScale="90000"/>
          </a:bodyPr>
          <a:lstStyle/>
          <a:p>
            <a:r>
              <a:rPr lang="en-US" dirty="0"/>
              <a:t>Narrative (How is this </a:t>
            </a:r>
            <a:r>
              <a:rPr lang="en-US" dirty="0" err="1"/>
              <a:t>gonna</a:t>
            </a:r>
            <a:r>
              <a:rPr lang="en-US" dirty="0"/>
              <a:t> work?)</a:t>
            </a:r>
          </a:p>
        </p:txBody>
      </p:sp>
      <p:sp>
        <p:nvSpPr>
          <p:cNvPr id="3" name="Content Placeholder 2">
            <a:extLst>
              <a:ext uri="{FF2B5EF4-FFF2-40B4-BE49-F238E27FC236}">
                <a16:creationId xmlns:a16="http://schemas.microsoft.com/office/drawing/2014/main" id="{DBF3B518-09B9-B371-6867-8B3A92556873}"/>
              </a:ext>
            </a:extLst>
          </p:cNvPr>
          <p:cNvSpPr>
            <a:spLocks noGrp="1"/>
          </p:cNvSpPr>
          <p:nvPr>
            <p:ph idx="1"/>
          </p:nvPr>
        </p:nvSpPr>
        <p:spPr>
          <a:xfrm>
            <a:off x="838200" y="859537"/>
            <a:ext cx="10515600" cy="2404872"/>
          </a:xfrm>
        </p:spPr>
        <p:txBody>
          <a:bodyPr/>
          <a:lstStyle/>
          <a:p>
            <a:r>
              <a:rPr lang="en-US" dirty="0"/>
              <a:t>Purchase Mode</a:t>
            </a:r>
          </a:p>
          <a:p>
            <a:pPr lvl="1"/>
            <a:r>
              <a:rPr lang="en-US" dirty="0"/>
              <a:t>In purchase mode, the user will enter item locations, enter money amounts, ask for refunds, </a:t>
            </a:r>
            <a:r>
              <a:rPr lang="en-US" dirty="0" err="1"/>
              <a:t>ect</a:t>
            </a:r>
            <a:r>
              <a:rPr lang="en-US" dirty="0"/>
              <a:t>.</a:t>
            </a:r>
          </a:p>
          <a:p>
            <a:r>
              <a:rPr lang="en-US" dirty="0"/>
              <a:t>Setup/Maintenance Mode</a:t>
            </a:r>
          </a:p>
          <a:p>
            <a:pPr lvl="1"/>
            <a:r>
              <a:rPr lang="en-US" dirty="0"/>
              <a:t>In setup mode, the technician can update the prices for each item.</a:t>
            </a:r>
          </a:p>
          <a:p>
            <a:pPr marL="457200" lvl="1" indent="0">
              <a:buNone/>
            </a:pPr>
            <a:endParaRPr lang="en-US" dirty="0"/>
          </a:p>
        </p:txBody>
      </p:sp>
      <p:sp>
        <p:nvSpPr>
          <p:cNvPr id="4" name="TextBox 3">
            <a:extLst>
              <a:ext uri="{FF2B5EF4-FFF2-40B4-BE49-F238E27FC236}">
                <a16:creationId xmlns:a16="http://schemas.microsoft.com/office/drawing/2014/main" id="{6DCDAAF1-7E60-7C82-8125-24B47107D6B1}"/>
              </a:ext>
            </a:extLst>
          </p:cNvPr>
          <p:cNvSpPr txBox="1"/>
          <p:nvPr/>
        </p:nvSpPr>
        <p:spPr>
          <a:xfrm>
            <a:off x="902208" y="3346706"/>
            <a:ext cx="9860280" cy="1846659"/>
          </a:xfrm>
          <a:prstGeom prst="rect">
            <a:avLst/>
          </a:prstGeom>
          <a:noFill/>
        </p:spPr>
        <p:txBody>
          <a:bodyPr wrap="square" rtlCol="0">
            <a:spAutoFit/>
          </a:bodyPr>
          <a:lstStyle/>
          <a:p>
            <a:pPr marL="285750" indent="-285750">
              <a:buFont typeface="Arial" panose="020B0604020202020204" pitchFamily="34" charset="0"/>
              <a:buChar char="•"/>
            </a:pPr>
            <a:r>
              <a:rPr lang="en-US" sz="2400" dirty="0"/>
              <a:t>Reset:</a:t>
            </a:r>
          </a:p>
          <a:p>
            <a:pPr marL="742950" lvl="1" indent="-285750">
              <a:buFont typeface="Arial" panose="020B0604020202020204" pitchFamily="34" charset="0"/>
              <a:buChar char="•"/>
            </a:pPr>
            <a:r>
              <a:rPr lang="en-US" sz="2400" dirty="0"/>
              <a:t>A reset mode will exist no matter what which will set everything to zero and set the prices of the items to default values. This will be activated using Key0 on the </a:t>
            </a:r>
            <a:r>
              <a:rPr lang="en-US" sz="2400" dirty="0" err="1"/>
              <a:t>terasic</a:t>
            </a:r>
            <a:r>
              <a:rPr lang="en-US" sz="2400" dirty="0"/>
              <a:t> board.</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6755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430C-FC7B-487B-D18C-A182467FCA20}"/>
              </a:ext>
            </a:extLst>
          </p:cNvPr>
          <p:cNvSpPr>
            <a:spLocks noGrp="1"/>
          </p:cNvSpPr>
          <p:nvPr>
            <p:ph type="title"/>
          </p:nvPr>
        </p:nvSpPr>
        <p:spPr>
          <a:xfrm>
            <a:off x="838200" y="118237"/>
            <a:ext cx="10515600" cy="732155"/>
          </a:xfrm>
        </p:spPr>
        <p:txBody>
          <a:bodyPr/>
          <a:lstStyle/>
          <a:p>
            <a:r>
              <a:rPr lang="en-US" dirty="0"/>
              <a:t>Purchase Mode</a:t>
            </a:r>
          </a:p>
        </p:txBody>
      </p:sp>
      <p:sp>
        <p:nvSpPr>
          <p:cNvPr id="3" name="Content Placeholder 2">
            <a:extLst>
              <a:ext uri="{FF2B5EF4-FFF2-40B4-BE49-F238E27FC236}">
                <a16:creationId xmlns:a16="http://schemas.microsoft.com/office/drawing/2014/main" id="{B95993BF-FD74-C4E7-0A7C-C485C83E42F3}"/>
              </a:ext>
            </a:extLst>
          </p:cNvPr>
          <p:cNvSpPr>
            <a:spLocks noGrp="1"/>
          </p:cNvSpPr>
          <p:nvPr>
            <p:ph idx="1"/>
          </p:nvPr>
        </p:nvSpPr>
        <p:spPr>
          <a:xfrm>
            <a:off x="838200" y="950976"/>
            <a:ext cx="10515600" cy="5225987"/>
          </a:xfrm>
        </p:spPr>
        <p:txBody>
          <a:bodyPr>
            <a:normAutofit lnSpcReduction="10000"/>
          </a:bodyPr>
          <a:lstStyle/>
          <a:p>
            <a:r>
              <a:rPr lang="en-US" dirty="0"/>
              <a:t>Power up the device (Key0)</a:t>
            </a:r>
          </a:p>
          <a:p>
            <a:r>
              <a:rPr lang="en-US" dirty="0"/>
              <a:t>Insert the item number (Keypad)</a:t>
            </a:r>
          </a:p>
          <a:p>
            <a:r>
              <a:rPr lang="en-US" dirty="0"/>
              <a:t>Device will display price on Hex 5-3</a:t>
            </a:r>
          </a:p>
          <a:p>
            <a:r>
              <a:rPr lang="en-US" dirty="0"/>
              <a:t>User enters price (switches)</a:t>
            </a:r>
          </a:p>
          <a:p>
            <a:r>
              <a:rPr lang="en-US" dirty="0"/>
              <a:t>Price will display on Hex 2-0</a:t>
            </a:r>
          </a:p>
          <a:p>
            <a:pPr lvl="1"/>
            <a:r>
              <a:rPr lang="en-US" dirty="0"/>
              <a:t>If the price = 0.95 and the user enters 1 dollar and then tries to enter 0.25 cents, the computer will flash the quarter return LED (LED2) and will not allow the display to update for anything beyond 1 dollar. </a:t>
            </a:r>
          </a:p>
          <a:p>
            <a:r>
              <a:rPr lang="en-US" dirty="0"/>
              <a:t>The user can hit cancel or refund (Key1)  at anytime, but this will not work after the vend button has been pushed</a:t>
            </a:r>
          </a:p>
          <a:p>
            <a:r>
              <a:rPr lang="en-US" dirty="0"/>
              <a:t>Once vend is hit (Key3), the computer will calculate the difference between the price and the user entered amount and give any change if necessary by blinking the respective LED’s</a:t>
            </a:r>
          </a:p>
          <a:p>
            <a:endParaRPr lang="en-US" dirty="0"/>
          </a:p>
          <a:p>
            <a:endParaRPr lang="en-US" dirty="0"/>
          </a:p>
          <a:p>
            <a:endParaRPr lang="en-US" dirty="0"/>
          </a:p>
        </p:txBody>
      </p:sp>
    </p:spTree>
    <p:extLst>
      <p:ext uri="{BB962C8B-B14F-4D97-AF65-F5344CB8AC3E}">
        <p14:creationId xmlns:p14="http://schemas.microsoft.com/office/powerpoint/2010/main" val="388497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5E81-EF04-9FB2-874B-6367AF88BA31}"/>
              </a:ext>
            </a:extLst>
          </p:cNvPr>
          <p:cNvSpPr>
            <a:spLocks noGrp="1"/>
          </p:cNvSpPr>
          <p:nvPr>
            <p:ph type="title"/>
          </p:nvPr>
        </p:nvSpPr>
        <p:spPr>
          <a:xfrm>
            <a:off x="838200" y="365126"/>
            <a:ext cx="10515600" cy="722270"/>
          </a:xfrm>
        </p:spPr>
        <p:txBody>
          <a:bodyPr/>
          <a:lstStyle/>
          <a:p>
            <a:r>
              <a:rPr lang="en-US" dirty="0"/>
              <a:t>Setup/Maintenance Mode</a:t>
            </a:r>
            <a:endParaRPr dirty="0"/>
          </a:p>
        </p:txBody>
      </p:sp>
      <p:sp>
        <p:nvSpPr>
          <p:cNvPr id="3" name="Content Placeholder 2">
            <a:extLst>
              <a:ext uri="{FF2B5EF4-FFF2-40B4-BE49-F238E27FC236}">
                <a16:creationId xmlns:a16="http://schemas.microsoft.com/office/drawing/2014/main" id="{FAB7F686-1F69-D67A-6B5A-D8B375A9F587}"/>
              </a:ext>
            </a:extLst>
          </p:cNvPr>
          <p:cNvSpPr>
            <a:spLocks noGrp="1"/>
          </p:cNvSpPr>
          <p:nvPr>
            <p:ph idx="1"/>
          </p:nvPr>
        </p:nvSpPr>
        <p:spPr>
          <a:xfrm>
            <a:off x="838200" y="1087396"/>
            <a:ext cx="10515600" cy="5089567"/>
          </a:xfrm>
        </p:spPr>
        <p:txBody>
          <a:bodyPr/>
          <a:lstStyle/>
          <a:p>
            <a:r>
              <a:rPr lang="en-US" dirty="0"/>
              <a:t>Press setup mode button (Key2) to enter setup Mode</a:t>
            </a:r>
          </a:p>
          <a:p>
            <a:r>
              <a:rPr lang="en-US" dirty="0"/>
              <a:t>enter the number of the item (Keypad)</a:t>
            </a:r>
          </a:p>
          <a:p>
            <a:r>
              <a:rPr lang="en-US" dirty="0"/>
              <a:t>Item number will appear on hex(5-3)</a:t>
            </a:r>
          </a:p>
          <a:p>
            <a:r>
              <a:rPr lang="en-US" dirty="0"/>
              <a:t>Next enter the price with sliders as in normal operating mode</a:t>
            </a:r>
          </a:p>
          <a:p>
            <a:r>
              <a:rPr lang="en-US" dirty="0"/>
              <a:t>Hit enter (Key0) </a:t>
            </a:r>
          </a:p>
          <a:p>
            <a:r>
              <a:rPr lang="en-US" dirty="0"/>
              <a:t>Hit (Key2) to exit operation mode or enter another </a:t>
            </a:r>
            <a:r>
              <a:rPr lang="en-US"/>
              <a:t>item number</a:t>
            </a:r>
            <a:endParaRPr dirty="0"/>
          </a:p>
        </p:txBody>
      </p:sp>
    </p:spTree>
    <p:extLst>
      <p:ext uri="{BB962C8B-B14F-4D97-AF65-F5344CB8AC3E}">
        <p14:creationId xmlns:p14="http://schemas.microsoft.com/office/powerpoint/2010/main" val="3038715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322</Words>
  <Application>Microsoft Macintosh PowerPoint</Application>
  <PresentationFormat>Widescreen</PresentationFormat>
  <Paragraphs>51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Final Project</vt:lpstr>
      <vt:lpstr>High Level Design</vt:lpstr>
      <vt:lpstr>Narrative (How is this gonna work?)</vt:lpstr>
      <vt:lpstr>Purchase Mode</vt:lpstr>
      <vt:lpstr>Setup/Maintenance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A Fales</dc:creator>
  <cp:lastModifiedBy>Graham A Fales</cp:lastModifiedBy>
  <cp:revision>2</cp:revision>
  <dcterms:created xsi:type="dcterms:W3CDTF">2026-10-28T20:32:23Z</dcterms:created>
  <dcterms:modified xsi:type="dcterms:W3CDTF">2026-10-30T18:24:41Z</dcterms:modified>
</cp:coreProperties>
</file>